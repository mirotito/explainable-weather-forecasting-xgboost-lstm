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88" r:id="rId6"/>
    <p:sldId id="277" r:id="rId7"/>
    <p:sldId id="260" r:id="rId8"/>
    <p:sldId id="278" r:id="rId9"/>
    <p:sldId id="280" r:id="rId10"/>
    <p:sldId id="261" r:id="rId11"/>
    <p:sldId id="262" r:id="rId12"/>
    <p:sldId id="282" r:id="rId13"/>
    <p:sldId id="285" r:id="rId14"/>
    <p:sldId id="263" r:id="rId15"/>
    <p:sldId id="264" r:id="rId16"/>
    <p:sldId id="265" r:id="rId17"/>
    <p:sldId id="267" r:id="rId18"/>
    <p:sldId id="268" r:id="rId19"/>
    <p:sldId id="269" r:id="rId20"/>
    <p:sldId id="270" r:id="rId21"/>
    <p:sldId id="271" r:id="rId22"/>
    <p:sldId id="272" r:id="rId23"/>
    <p:sldId id="286" r:id="rId24"/>
    <p:sldId id="287" r:id="rId25"/>
    <p:sldId id="273" r:id="rId26"/>
    <p:sldId id="274" r:id="rId27"/>
    <p:sldId id="284" r:id="rId28"/>
    <p:sldId id="283" r:id="rId29"/>
    <p:sldId id="275" r:id="rId30"/>
    <p:sldId id="289" r:id="rId31"/>
    <p:sldId id="27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C5605-659A-27AD-B8DB-D20D24F9E3DE}" v="7" dt="2026-09-09T16:20:11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85" d="100"/>
          <a:sy n="85" d="100"/>
        </p:scale>
        <p:origin x="59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E05CB-BF6A-444C-9088-45F10690BAF1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6CBF9-9971-4A3E-B6BB-8C6720D52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3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6CBF9-9971-4A3E-B6BB-8C6720D5217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074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D6CBF9-9971-4A3E-B6BB-8C6720D5217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21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44C1-8268-0D37-F42F-FAF83952B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0565" y="1676400"/>
            <a:ext cx="9611847" cy="1425388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Short-Term Weather Forecasting Using </a:t>
            </a:r>
            <a:r>
              <a:rPr lang="en-US" b="1" dirty="0" err="1"/>
              <a:t>XGBoost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71DC5-28F7-DD74-05C9-12458461E1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5377" y="3691684"/>
            <a:ext cx="8791575" cy="29915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Prepared by: Omar Hammad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39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D31E6-7867-A553-D7CE-8AA5E59E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977" y="80636"/>
            <a:ext cx="9905998" cy="37656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809AA-94C0-70DE-CB27-F3D482C1B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6776" y="457200"/>
            <a:ext cx="9720635" cy="533400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Weather Forecasting Importance</a:t>
            </a:r>
          </a:p>
          <a:p>
            <a:pPr lvl="1"/>
            <a:r>
              <a:rPr lang="en-US" dirty="0"/>
              <a:t>Short-term weather forecasting is important for:</a:t>
            </a:r>
          </a:p>
          <a:p>
            <a:pPr lvl="1"/>
            <a:r>
              <a:rPr lang="en-US" dirty="0"/>
              <a:t>HVAC energy optimization</a:t>
            </a:r>
          </a:p>
          <a:p>
            <a:pPr lvl="1"/>
            <a:r>
              <a:rPr lang="en-US" dirty="0"/>
              <a:t>Smart buildings</a:t>
            </a:r>
          </a:p>
          <a:p>
            <a:pPr lvl="1"/>
            <a:r>
              <a:rPr lang="en-US" dirty="0"/>
              <a:t>Renewable energy systems</a:t>
            </a:r>
          </a:p>
          <a:p>
            <a:pPr lvl="1"/>
            <a:r>
              <a:rPr lang="en-US" dirty="0"/>
              <a:t>Agriculture</a:t>
            </a:r>
          </a:p>
          <a:p>
            <a:pPr lvl="1"/>
            <a:r>
              <a:rPr lang="en-US" dirty="0"/>
              <a:t>Transportation systems</a:t>
            </a:r>
          </a:p>
          <a:p>
            <a:pPr lvl="1"/>
            <a:r>
              <a:rPr lang="en-US" dirty="0"/>
              <a:t>Climate monitoring</a:t>
            </a:r>
          </a:p>
          <a:p>
            <a:pPr marL="0" indent="0">
              <a:buNone/>
            </a:pPr>
            <a:r>
              <a:rPr lang="en-US" b="1" dirty="0"/>
              <a:t>Accurate forecasting helps improve:</a:t>
            </a:r>
          </a:p>
          <a:p>
            <a:pPr lvl="1"/>
            <a:r>
              <a:rPr lang="en-US" dirty="0"/>
              <a:t>energy efficiency</a:t>
            </a:r>
          </a:p>
          <a:p>
            <a:pPr lvl="1"/>
            <a:r>
              <a:rPr lang="en-US" dirty="0"/>
              <a:t>operational planning</a:t>
            </a:r>
          </a:p>
          <a:p>
            <a:pPr lvl="1"/>
            <a:r>
              <a:rPr lang="en-US" dirty="0"/>
              <a:t>environmental sustainability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3D3E5-63B3-B1EF-F0E6-332079AF4F7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l="-32432" t="-11520" r="-2703" b="11520"/>
          <a:stretch>
            <a:fillRect/>
          </a:stretch>
        </p:blipFill>
        <p:spPr>
          <a:xfrm>
            <a:off x="4165506" y="1138517"/>
            <a:ext cx="7745509" cy="4034119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82362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2983-5043-764C-C639-C8AE2108F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645459"/>
          </a:xfrm>
        </p:spPr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4199E-8B30-9427-343C-BCBB352FB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609600"/>
            <a:ext cx="9905999" cy="6060141"/>
          </a:xfrm>
        </p:spPr>
        <p:txBody>
          <a:bodyPr/>
          <a:lstStyle/>
          <a:p>
            <a:r>
              <a:rPr lang="en-US" b="1" dirty="0"/>
              <a:t>Main Objective:</a:t>
            </a:r>
          </a:p>
          <a:p>
            <a:pPr marL="0" indent="0">
              <a:buNone/>
            </a:pPr>
            <a:r>
              <a:rPr lang="en-US" dirty="0"/>
              <a:t>Replicate a research paper using </a:t>
            </a:r>
            <a:r>
              <a:rPr lang="en-US" dirty="0" err="1"/>
              <a:t>XGBoost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Predict: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Temperature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Relative Humidity</a:t>
            </a:r>
          </a:p>
          <a:p>
            <a:r>
              <a:rPr lang="en-US" dirty="0"/>
              <a:t>Forecast horizons:</a:t>
            </a:r>
          </a:p>
          <a:p>
            <a:pPr lvl="1"/>
            <a:r>
              <a:rPr lang="en-US" dirty="0"/>
              <a:t>1 hour ahead</a:t>
            </a:r>
          </a:p>
          <a:p>
            <a:pPr lvl="1"/>
            <a:r>
              <a:rPr lang="en-US" dirty="0"/>
              <a:t>2 hours ahead</a:t>
            </a:r>
          </a:p>
          <a:p>
            <a:pPr lvl="1"/>
            <a:r>
              <a:rPr lang="en-US" dirty="0"/>
              <a:t>3 hours ahead</a:t>
            </a:r>
          </a:p>
          <a:p>
            <a:pPr marL="0" indent="0">
              <a:buNone/>
            </a:pPr>
            <a:r>
              <a:rPr lang="en-US" dirty="0"/>
              <a:t>(bonus Compare </a:t>
            </a:r>
            <a:r>
              <a:rPr lang="en-US" dirty="0" err="1"/>
              <a:t>XGBoost</a:t>
            </a:r>
            <a:r>
              <a:rPr lang="en-US" dirty="0"/>
              <a:t> with LSTM</a:t>
            </a:r>
          </a:p>
          <a:p>
            <a:pPr marL="0" indent="0">
              <a:buNone/>
            </a:pPr>
            <a:r>
              <a:rPr lang="en-US" dirty="0"/>
              <a:t>Add Explainable AI using SHAP)</a:t>
            </a:r>
          </a:p>
          <a:p>
            <a:endParaRPr lang="en-US" dirty="0"/>
          </a:p>
        </p:txBody>
      </p:sp>
      <p:pic>
        <p:nvPicPr>
          <p:cNvPr id="1032" name="Picture 8" descr="Project Objectives Examples &amp; Tips to Accomplish Your Goals">
            <a:extLst>
              <a:ext uri="{FF2B5EF4-FFF2-40B4-BE49-F238E27FC236}">
                <a16:creationId xmlns:a16="http://schemas.microsoft.com/office/drawing/2014/main" id="{FE0D87E0-151A-915A-D71E-4DC60A64B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553" y="1"/>
            <a:ext cx="5720234" cy="5123330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9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150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BFD20-1DB0-3F1D-EED2-AA3EEBE5B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95" y="0"/>
            <a:ext cx="9905998" cy="57822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Research Paper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DB68C-C696-6EB1-699F-07084D63C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989" y="488576"/>
            <a:ext cx="9905999" cy="6060142"/>
          </a:xfrm>
        </p:spPr>
        <p:txBody>
          <a:bodyPr>
            <a:normAutofit fontScale="70000" lnSpcReduction="20000"/>
          </a:bodyPr>
          <a:lstStyle/>
          <a:p>
            <a:r>
              <a:rPr lang="en-US" sz="4100" b="1" dirty="0"/>
              <a:t>Original Paper</a:t>
            </a:r>
          </a:p>
          <a:p>
            <a:pPr marL="0" indent="0">
              <a:buNone/>
            </a:pPr>
            <a:r>
              <a:rPr lang="en-US" sz="2600" dirty="0"/>
              <a:t>The original paper used:</a:t>
            </a:r>
          </a:p>
          <a:p>
            <a:pPr marL="0" indent="0">
              <a:buNone/>
            </a:pPr>
            <a:r>
              <a:rPr lang="en-US" sz="2600" dirty="0" err="1"/>
              <a:t>XGBoost</a:t>
            </a:r>
            <a:r>
              <a:rPr lang="en-US" sz="2600" dirty="0"/>
              <a:t> regression</a:t>
            </a:r>
          </a:p>
          <a:p>
            <a:pPr marL="0" indent="0">
              <a:buNone/>
            </a:pPr>
            <a:r>
              <a:rPr lang="en-US" sz="2600" dirty="0"/>
              <a:t>Multi-horizon forecasting</a:t>
            </a:r>
          </a:p>
          <a:p>
            <a:pPr marL="0" indent="0">
              <a:buNone/>
            </a:pPr>
            <a:r>
              <a:rPr lang="en-US" sz="2600" dirty="0"/>
              <a:t>Weather prediction techniques</a:t>
            </a:r>
          </a:p>
          <a:p>
            <a:pPr marL="0" indent="0" algn="ctr">
              <a:buNone/>
            </a:pPr>
            <a:r>
              <a:rPr lang="en-US" sz="3100" b="1" dirty="0"/>
              <a:t>Main variables (features) :</a:t>
            </a:r>
          </a:p>
          <a:p>
            <a:pPr marL="0" indent="0">
              <a:buNone/>
            </a:pPr>
            <a:r>
              <a:rPr lang="en-US" dirty="0"/>
              <a:t>1.Temperature</a:t>
            </a:r>
          </a:p>
          <a:p>
            <a:pPr marL="0" indent="0">
              <a:buNone/>
            </a:pPr>
            <a:r>
              <a:rPr lang="en-US" dirty="0"/>
              <a:t>2.Humidity</a:t>
            </a:r>
          </a:p>
          <a:p>
            <a:pPr marL="0" indent="0">
              <a:buNone/>
            </a:pPr>
            <a:r>
              <a:rPr lang="en-US" dirty="0"/>
              <a:t>3.Solar radiation</a:t>
            </a:r>
          </a:p>
          <a:p>
            <a:pPr marL="0" indent="0">
              <a:buNone/>
            </a:pPr>
            <a:r>
              <a:rPr lang="en-US" dirty="0"/>
              <a:t>4.Wind speed</a:t>
            </a:r>
          </a:p>
          <a:p>
            <a:pPr marL="0" indent="0">
              <a:buNone/>
            </a:pPr>
            <a:r>
              <a:rPr lang="en-US" dirty="0"/>
              <a:t>5.Surface pressure</a:t>
            </a:r>
          </a:p>
          <a:p>
            <a:pPr marL="0" indent="0" algn="ctr">
              <a:buNone/>
            </a:pPr>
            <a:r>
              <a:rPr lang="en-US" sz="2600" b="1" dirty="0"/>
              <a:t>Evaluation metrics in both the paper and our replication :</a:t>
            </a:r>
          </a:p>
          <a:p>
            <a:pPr marL="0" indent="0" algn="ctr">
              <a:buNone/>
            </a:pPr>
            <a:r>
              <a:rPr lang="en-US" dirty="0"/>
              <a:t>RMSE</a:t>
            </a:r>
          </a:p>
          <a:p>
            <a:pPr marL="0" indent="0" algn="ctr">
              <a:buNone/>
            </a:pPr>
            <a:r>
              <a:rPr lang="en-US" dirty="0"/>
              <a:t>R² Score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97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8DC9A-9F97-6249-7D9D-411915C7B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E581-4222-454C-BF56-2A064EE15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95" y="0"/>
            <a:ext cx="9905998" cy="57822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Research Paper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A923-5F04-E32D-AA6C-F6D16297D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989" y="488576"/>
            <a:ext cx="9905999" cy="60601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DATA COLLECTION </a:t>
            </a:r>
          </a:p>
          <a:p>
            <a:r>
              <a:rPr lang="en-US" dirty="0"/>
              <a:t>The original </a:t>
            </a:r>
            <a:r>
              <a:rPr lang="en-US" dirty="0" err="1"/>
              <a:t>XGBoost</a:t>
            </a:r>
            <a:r>
              <a:rPr lang="en-US" dirty="0"/>
              <a:t> weather prediction paper used data collected from an </a:t>
            </a:r>
            <a:r>
              <a:rPr lang="en-US" b="1" dirty="0"/>
              <a:t>outdoor environmental monitoring station</a:t>
            </a:r>
            <a:r>
              <a:rPr lang="en-US" dirty="0"/>
              <a:t> installed at a university campus/building environment.</a:t>
            </a:r>
          </a:p>
          <a:p>
            <a:pPr marL="0" indent="0">
              <a:buNone/>
            </a:pPr>
            <a:r>
              <a:rPr lang="en-US" dirty="0"/>
              <a:t>The measurements were collected continuously using IoT/weather sensors and stored as time-series environmental data.</a:t>
            </a:r>
          </a:p>
          <a:p>
            <a:pPr marL="0" indent="0" algn="ctr">
              <a:buNone/>
            </a:pPr>
            <a:r>
              <a:rPr lang="en-US" dirty="0"/>
              <a:t>China, Shenzhen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7F0DE3-641B-F196-E6DE-C01BFF8C3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3606"/>
            <a:ext cx="12192000" cy="288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8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89BC-60AB-C52C-69A2-DD1133C74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0576-62B8-E8F1-39C8-0B2B14A02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295" y="0"/>
            <a:ext cx="9905998" cy="57822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OUR replication </a:t>
            </a:r>
            <a:r>
              <a:rPr lang="en-US" dirty="0"/>
              <a:t>(</a:t>
            </a:r>
            <a:r>
              <a:rPr lang="en-US" sz="2700" dirty="0"/>
              <a:t>Overview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0EF14-2112-96F7-E021-45A81A0F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989" y="488576"/>
            <a:ext cx="9905999" cy="58898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Our Dataset Collection</a:t>
            </a:r>
          </a:p>
          <a:p>
            <a:pPr>
              <a:buNone/>
            </a:pPr>
            <a:r>
              <a:rPr lang="en-US" sz="2000" b="1" dirty="0"/>
              <a:t>Weather Dataset</a:t>
            </a:r>
          </a:p>
          <a:p>
            <a:pPr>
              <a:buNone/>
            </a:pPr>
            <a:r>
              <a:rPr lang="en-US" sz="2000" dirty="0"/>
              <a:t>Dataset source:</a:t>
            </a:r>
          </a:p>
          <a:p>
            <a:pPr marL="0" indent="0">
              <a:buNone/>
            </a:pPr>
            <a:r>
              <a:rPr lang="en-US" sz="2000" dirty="0"/>
              <a:t>Open-</a:t>
            </a:r>
            <a:r>
              <a:rPr lang="en-US" sz="2000" dirty="0" err="1"/>
              <a:t>Meteo</a:t>
            </a:r>
            <a:r>
              <a:rPr lang="en-US" sz="2000" dirty="0"/>
              <a:t> API</a:t>
            </a:r>
          </a:p>
          <a:p>
            <a:pPr>
              <a:buNone/>
            </a:pPr>
            <a:r>
              <a:rPr lang="en-US" sz="2000" dirty="0"/>
              <a:t>Location:</a:t>
            </a:r>
          </a:p>
          <a:p>
            <a:pPr marL="0" indent="0">
              <a:buNone/>
            </a:pPr>
            <a:r>
              <a:rPr lang="en-US" sz="2000" dirty="0"/>
              <a:t>Cairo, Egypt</a:t>
            </a:r>
          </a:p>
          <a:p>
            <a:pPr marL="0" indent="0" algn="ctr">
              <a:buNone/>
            </a:pPr>
            <a:endParaRPr lang="en-US" sz="1700" b="1" dirty="0"/>
          </a:p>
          <a:p>
            <a:pPr marL="0" indent="0" algn="ctr">
              <a:buNone/>
            </a:pPr>
            <a:endParaRPr lang="en-US" sz="1700" b="1" dirty="0"/>
          </a:p>
          <a:p>
            <a:pPr marL="0" indent="0" algn="ctr">
              <a:buNone/>
            </a:pPr>
            <a:endParaRPr lang="en-US" sz="1700" b="1" dirty="0"/>
          </a:p>
          <a:p>
            <a:pPr marL="0" indent="0" algn="ctr">
              <a:buNone/>
            </a:pPr>
            <a:r>
              <a:rPr lang="en-US" b="1" dirty="0"/>
              <a:t>Evaluation metrics in both the paper and our replication :</a:t>
            </a:r>
          </a:p>
          <a:p>
            <a:pPr marL="0" indent="0" algn="ctr">
              <a:buNone/>
            </a:pPr>
            <a:r>
              <a:rPr lang="en-US" sz="2000" dirty="0"/>
              <a:t>RMSE</a:t>
            </a:r>
          </a:p>
          <a:p>
            <a:pPr marL="0" indent="0" algn="ctr">
              <a:buNone/>
            </a:pPr>
            <a:r>
              <a:rPr lang="en-US" sz="2000" dirty="0"/>
              <a:t>R² Score</a:t>
            </a:r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7290A9-0390-E1C3-2DAA-6A155D95AC0B}"/>
              </a:ext>
            </a:extLst>
          </p:cNvPr>
          <p:cNvSpPr txBox="1"/>
          <p:nvPr/>
        </p:nvSpPr>
        <p:spPr>
          <a:xfrm>
            <a:off x="7453033" y="721403"/>
            <a:ext cx="61027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Collected Variables(features):</a:t>
            </a:r>
          </a:p>
          <a:p>
            <a:pPr marL="0" indent="0">
              <a:buNone/>
            </a:pPr>
            <a:r>
              <a:rPr lang="en-US" sz="3200" dirty="0"/>
              <a:t>Temperature</a:t>
            </a:r>
          </a:p>
          <a:p>
            <a:pPr marL="0" indent="0">
              <a:buNone/>
            </a:pPr>
            <a:r>
              <a:rPr lang="en-US" sz="3200" dirty="0"/>
              <a:t>Relative Humidity</a:t>
            </a:r>
          </a:p>
          <a:p>
            <a:pPr marL="0" indent="0">
              <a:buNone/>
            </a:pPr>
            <a:r>
              <a:rPr lang="en-US" sz="3200" dirty="0"/>
              <a:t>Solar Radiation</a:t>
            </a:r>
          </a:p>
          <a:p>
            <a:pPr marL="0" indent="0">
              <a:buNone/>
            </a:pPr>
            <a:r>
              <a:rPr lang="en-US" sz="3200" dirty="0"/>
              <a:t>Surface Pressure</a:t>
            </a:r>
          </a:p>
          <a:p>
            <a:pPr marL="0" indent="0">
              <a:buNone/>
            </a:pPr>
            <a:r>
              <a:rPr lang="en-US" sz="3200" dirty="0"/>
              <a:t>Wind Speed</a:t>
            </a:r>
          </a:p>
          <a:p>
            <a:pPr>
              <a:buNone/>
            </a:pPr>
            <a:r>
              <a:rPr lang="en-US" sz="3200" dirty="0"/>
              <a:t>Dataset size:</a:t>
            </a:r>
          </a:p>
          <a:p>
            <a:r>
              <a:rPr lang="en-US" sz="3200" dirty="0"/>
              <a:t>4344 hourly samples</a:t>
            </a:r>
          </a:p>
        </p:txBody>
      </p:sp>
      <p:pic>
        <p:nvPicPr>
          <p:cNvPr id="1028" name="Picture 4" descr="Giza pyramid complex - Wikipedia">
            <a:extLst>
              <a:ext uri="{FF2B5EF4-FFF2-40B4-BE49-F238E27FC236}">
                <a16:creationId xmlns:a16="http://schemas.microsoft.com/office/drawing/2014/main" id="{F9859F41-569A-451C-3865-7B662F68D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85839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ries - Om El Donya - 2022 Watch ...">
            <a:extLst>
              <a:ext uri="{FF2B5EF4-FFF2-40B4-BE49-F238E27FC236}">
                <a16:creationId xmlns:a16="http://schemas.microsoft.com/office/drawing/2014/main" id="{69E93B2D-0BFE-BF75-7213-0AB6D70601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1" t="18629" r="-521" b="18629"/>
          <a:stretch>
            <a:fillRect/>
          </a:stretch>
        </p:blipFill>
        <p:spPr bwMode="auto">
          <a:xfrm>
            <a:off x="10344150" y="4595813"/>
            <a:ext cx="1840557" cy="226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643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D3CE-B02A-1233-46A4-10ED7C8D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5109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Preprocessing &amp; Forecasting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C08C-5FE5-F811-5E2D-E22C3E593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77" y="416858"/>
            <a:ext cx="9905999" cy="64411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b="1" dirty="0"/>
              <a:t>Data Cleaning and Preparation</a:t>
            </a:r>
          </a:p>
          <a:p>
            <a:pPr marL="0" indent="0">
              <a:buNone/>
            </a:pPr>
            <a:r>
              <a:rPr lang="en-US" sz="2800" dirty="0"/>
              <a:t>Steps performed:</a:t>
            </a:r>
          </a:p>
          <a:p>
            <a:pPr marL="0" indent="0">
              <a:buNone/>
            </a:pPr>
            <a:r>
              <a:rPr lang="en-US" sz="2800" dirty="0"/>
              <a:t>Converted time to datetime format                  Renamed columns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3788CF-2BD1-3DE4-6687-B960107B9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158" y="2273147"/>
            <a:ext cx="4017612" cy="2822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3357E0-BE7F-6F61-A77C-5D7B40CB6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90" y="2273147"/>
            <a:ext cx="4981109" cy="232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452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51787-F886-9456-CADB-E7BB718D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16CED-0959-2B38-945D-9BA38E41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5109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2436B-F0AD-912E-D1CA-575EF6425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41" y="416858"/>
            <a:ext cx="10330235" cy="6441142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3600" dirty="0"/>
              <a:t>Creating of Lag features:</a:t>
            </a:r>
          </a:p>
          <a:p>
            <a:pPr marL="0" indent="0">
              <a:buNone/>
            </a:pPr>
            <a:r>
              <a:rPr lang="en-US" sz="3600" dirty="0"/>
              <a:t>temp_lag_1</a:t>
            </a:r>
          </a:p>
          <a:p>
            <a:pPr marL="0" indent="0">
              <a:buNone/>
            </a:pPr>
            <a:r>
              <a:rPr lang="en-US" sz="3600" dirty="0"/>
              <a:t>temp_lag_2</a:t>
            </a:r>
          </a:p>
          <a:p>
            <a:pPr marL="0" indent="0">
              <a:buNone/>
            </a:pPr>
            <a:r>
              <a:rPr lang="en-US" sz="3600" dirty="0"/>
              <a:t>temp_lag_3</a:t>
            </a:r>
          </a:p>
          <a:p>
            <a:pPr marL="0" indent="0">
              <a:buNone/>
            </a:pPr>
            <a:r>
              <a:rPr lang="en-US" sz="3600" dirty="0"/>
              <a:t>humidity_lag_1</a:t>
            </a:r>
          </a:p>
          <a:p>
            <a:pPr marL="0" indent="0">
              <a:buNone/>
            </a:pPr>
            <a:r>
              <a:rPr lang="en-US" sz="3600" dirty="0"/>
              <a:t>humidity_lag_2</a:t>
            </a:r>
          </a:p>
          <a:p>
            <a:pPr marL="0" indent="0">
              <a:buNone/>
            </a:pPr>
            <a:r>
              <a:rPr lang="en-US" sz="3600" dirty="0"/>
              <a:t>humidity_lag_3</a:t>
            </a:r>
          </a:p>
          <a:p>
            <a:pPr marL="0" indent="0" algn="ctr">
              <a:buNone/>
            </a:pPr>
            <a:r>
              <a:rPr lang="en-US" sz="3600" dirty="0"/>
              <a:t>These represent:</a:t>
            </a:r>
          </a:p>
          <a:p>
            <a:pPr marL="0" indent="0" algn="ctr">
              <a:buNone/>
            </a:pPr>
            <a:r>
              <a:rPr lang="en-US" sz="3600" dirty="0"/>
              <a:t>previous 1 hour </a:t>
            </a:r>
          </a:p>
          <a:p>
            <a:pPr marL="0" indent="0" algn="ctr">
              <a:buNone/>
            </a:pPr>
            <a:r>
              <a:rPr lang="en-US" sz="3600" dirty="0"/>
              <a:t>previous 2 hours </a:t>
            </a:r>
          </a:p>
          <a:p>
            <a:pPr marL="0" indent="0" algn="ctr">
              <a:buNone/>
            </a:pPr>
            <a:r>
              <a:rPr lang="en-US" sz="3600" dirty="0"/>
              <a:t>previous 3 hours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But Why GIFs | Tenor">
            <a:extLst>
              <a:ext uri="{FF2B5EF4-FFF2-40B4-BE49-F238E27FC236}">
                <a16:creationId xmlns:a16="http://schemas.microsoft.com/office/drawing/2014/main" id="{C59B8EC9-3A8F-501B-0572-46CA59D56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5365" y="1"/>
            <a:ext cx="2886635" cy="3868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Y? - Shitwhole">
            <a:extLst>
              <a:ext uri="{FF2B5EF4-FFF2-40B4-BE49-F238E27FC236}">
                <a16:creationId xmlns:a16="http://schemas.microsoft.com/office/drawing/2014/main" id="{5C5F556C-7A9D-F129-F8E5-4444057EC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86350"/>
            <a:ext cx="258127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221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B4CAC-F27D-21CF-95F5-669183D39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55E9E-DFAB-A789-5B16-6933D1517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51098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FB4FA-6DE6-F621-9134-9D454B956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341" y="416858"/>
            <a:ext cx="10330235" cy="6441142"/>
          </a:xfrm>
        </p:spPr>
        <p:txBody>
          <a:bodyPr>
            <a:normAutofit/>
          </a:bodyPr>
          <a:lstStyle/>
          <a:p>
            <a:r>
              <a:rPr lang="en-US" sz="3200" b="1" dirty="0"/>
              <a:t>Why Lag Features Are Important for </a:t>
            </a:r>
            <a:r>
              <a:rPr lang="en-US" sz="3200" b="1" dirty="0" err="1"/>
              <a:t>XGBoost</a:t>
            </a:r>
            <a:endParaRPr lang="en-US" sz="3200" b="1" dirty="0"/>
          </a:p>
          <a:p>
            <a:pPr marL="0" indent="0">
              <a:buNone/>
            </a:pPr>
            <a:r>
              <a:rPr lang="en-US" sz="3200" dirty="0" err="1"/>
              <a:t>XGBoost</a:t>
            </a:r>
            <a:r>
              <a:rPr lang="en-US" sz="3200" dirty="0"/>
              <a:t> is NOT naturally sequential like LSTM.</a:t>
            </a:r>
          </a:p>
          <a:p>
            <a:pPr marL="0" indent="0">
              <a:buNone/>
            </a:pPr>
            <a:r>
              <a:rPr lang="en-US" sz="3200" dirty="0"/>
              <a:t>LSTM automatically remembers previous time steps.</a:t>
            </a:r>
          </a:p>
          <a:p>
            <a:pPr marL="0" indent="0">
              <a:buNone/>
            </a:pPr>
            <a:r>
              <a:rPr lang="en-US" sz="3200" dirty="0"/>
              <a:t>But </a:t>
            </a:r>
            <a:r>
              <a:rPr lang="en-US" sz="3200" dirty="0" err="1"/>
              <a:t>XGBoost</a:t>
            </a:r>
            <a:r>
              <a:rPr lang="en-US" sz="3200" dirty="0"/>
              <a:t> only sees rows independently.</a:t>
            </a:r>
          </a:p>
          <a:p>
            <a:pPr marL="0" indent="0">
              <a:buNone/>
            </a:pPr>
            <a:r>
              <a:rPr lang="en-US" sz="3200" dirty="0"/>
              <a:t>Therefore:</a:t>
            </a:r>
          </a:p>
          <a:p>
            <a:pPr marL="0" indent="0">
              <a:buNone/>
            </a:pPr>
            <a:r>
              <a:rPr lang="en-US" sz="3200" dirty="0"/>
              <a:t>lag features manually provide memory to </a:t>
            </a:r>
            <a:r>
              <a:rPr lang="en-US" sz="3200" dirty="0" err="1"/>
              <a:t>XGBoost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Without lag features:</a:t>
            </a:r>
          </a:p>
          <a:p>
            <a:pPr marL="0" indent="0">
              <a:buNone/>
            </a:pPr>
            <a:r>
              <a:rPr lang="en-US" sz="3200" dirty="0" err="1"/>
              <a:t>XGBoost</a:t>
            </a:r>
            <a:r>
              <a:rPr lang="en-US" sz="3200" dirty="0"/>
              <a:t> would not understand time relationships properly.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98F79-A531-AA5D-4B63-5A81303CD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3975" y="0"/>
            <a:ext cx="32480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802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CF93-B053-9666-D22D-EEF0114C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600635"/>
          </a:xfrm>
        </p:spPr>
        <p:txBody>
          <a:bodyPr/>
          <a:lstStyle/>
          <a:p>
            <a:pPr algn="ctr"/>
            <a:r>
              <a:rPr lang="en-US" dirty="0"/>
              <a:t>Our beloved </a:t>
            </a:r>
            <a:r>
              <a:rPr lang="en-US" dirty="0" err="1"/>
              <a:t>XGBoost</a:t>
            </a:r>
            <a:r>
              <a:rPr lang="en-US" dirty="0"/>
              <a:t>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6A365-9D00-912A-7AEA-DDB6DCF34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106" y="773205"/>
            <a:ext cx="9905999" cy="531158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/>
              <a:t>XGBoost</a:t>
            </a:r>
            <a:r>
              <a:rPr lang="en-US" b="1" dirty="0"/>
              <a:t> Configuration</a:t>
            </a:r>
          </a:p>
          <a:p>
            <a:pPr>
              <a:buNone/>
            </a:pPr>
            <a:r>
              <a:rPr lang="en-US" dirty="0"/>
              <a:t>Parameters used:</a:t>
            </a:r>
          </a:p>
          <a:p>
            <a:pPr lvl="1"/>
            <a:r>
              <a:rPr lang="en-US" dirty="0" err="1"/>
              <a:t>n_estimators</a:t>
            </a:r>
            <a:r>
              <a:rPr lang="en-US" dirty="0"/>
              <a:t> = 10000</a:t>
            </a:r>
          </a:p>
          <a:p>
            <a:pPr lvl="1"/>
            <a:r>
              <a:rPr lang="en-US" dirty="0" err="1"/>
              <a:t>learning_rate</a:t>
            </a:r>
            <a:r>
              <a:rPr lang="en-US" dirty="0"/>
              <a:t> = 0.05</a:t>
            </a:r>
          </a:p>
          <a:p>
            <a:pPr lvl="1"/>
            <a:r>
              <a:rPr lang="en-US" dirty="0" err="1"/>
              <a:t>max_depth</a:t>
            </a:r>
            <a:r>
              <a:rPr lang="en-US" dirty="0"/>
              <a:t> = 5</a:t>
            </a:r>
          </a:p>
          <a:p>
            <a:pPr>
              <a:buNone/>
            </a:pPr>
            <a:r>
              <a:rPr lang="en-US" dirty="0"/>
              <a:t>Advantages:</a:t>
            </a:r>
          </a:p>
          <a:p>
            <a:pPr lvl="1"/>
            <a:r>
              <a:rPr lang="en-US" dirty="0"/>
              <a:t>Fast training</a:t>
            </a:r>
          </a:p>
          <a:p>
            <a:pPr lvl="1"/>
            <a:r>
              <a:rPr lang="en-US" dirty="0"/>
              <a:t>High interpretability</a:t>
            </a:r>
          </a:p>
          <a:p>
            <a:pPr lvl="1"/>
            <a:r>
              <a:rPr lang="en-US" dirty="0"/>
              <a:t>SHAP compatibility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47973-FEE5-14C8-781C-21DBAD299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59" y="479612"/>
            <a:ext cx="7620000" cy="381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F881BB-0DE1-3591-F968-B87B50837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59" y="4258236"/>
            <a:ext cx="7629525" cy="259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604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D3FD-AC3B-2172-E473-B96D4699E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543" y="0"/>
            <a:ext cx="9905998" cy="6633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Multi-Horizon Forecasting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E77A5-3632-46F4-1F63-D3A45BA73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577" y="797858"/>
            <a:ext cx="9905999" cy="5262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Features: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Temperature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Humidity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Solar radiation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Wind speed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Surface pressure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CF607-398F-FF27-9CCF-C04CB159A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330" y="4311926"/>
            <a:ext cx="4996670" cy="25460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86B342-9986-39AB-9C29-2B570424B699}"/>
              </a:ext>
            </a:extLst>
          </p:cNvPr>
          <p:cNvSpPr txBox="1"/>
          <p:nvPr/>
        </p:nvSpPr>
        <p:spPr>
          <a:xfrm>
            <a:off x="6831106" y="2557600"/>
            <a:ext cx="48125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OUR TARGETS!!</a:t>
            </a:r>
          </a:p>
          <a:p>
            <a:r>
              <a:rPr lang="en-US" sz="3200" dirty="0"/>
              <a:t>Temperature &amp; Humidity</a:t>
            </a:r>
          </a:p>
        </p:txBody>
      </p:sp>
    </p:spTree>
    <p:extLst>
      <p:ext uri="{BB962C8B-B14F-4D97-AF65-F5344CB8AC3E}">
        <p14:creationId xmlns:p14="http://schemas.microsoft.com/office/powerpoint/2010/main" val="4038998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BD3C-37E5-4A2E-B9FE-903D0219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5633-D42C-4BBF-8FF5-079DB39D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543" y="0"/>
            <a:ext cx="9905998" cy="6633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Multi-Horizon Forecasting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224E1-7242-8B81-9C29-F332893CE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065" y="511864"/>
            <a:ext cx="9905998" cy="6236804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sz="11200" dirty="0"/>
              <a:t>Temperature prediction:</a:t>
            </a:r>
          </a:p>
          <a:p>
            <a:pPr marL="0" indent="0">
              <a:buNone/>
            </a:pPr>
            <a:r>
              <a:rPr lang="en-US" sz="11200" dirty="0"/>
              <a:t>1-hour ahead</a:t>
            </a:r>
          </a:p>
          <a:p>
            <a:pPr marL="0" indent="0">
              <a:buNone/>
            </a:pPr>
            <a:r>
              <a:rPr lang="en-US" sz="11200" dirty="0"/>
              <a:t>2-hours ahead</a:t>
            </a:r>
          </a:p>
          <a:p>
            <a:pPr marL="0" indent="0">
              <a:buNone/>
            </a:pPr>
            <a:r>
              <a:rPr lang="en-US" sz="11200" dirty="0"/>
              <a:t>3-hours ahead</a:t>
            </a:r>
          </a:p>
          <a:p>
            <a:pPr>
              <a:buNone/>
            </a:pPr>
            <a:r>
              <a:rPr lang="en-US" sz="11200" dirty="0"/>
              <a:t>Humidity prediction:</a:t>
            </a:r>
          </a:p>
          <a:p>
            <a:pPr marL="0" indent="0">
              <a:buNone/>
            </a:pPr>
            <a:r>
              <a:rPr lang="en-US" sz="11200" dirty="0"/>
              <a:t>1-hour ahead</a:t>
            </a:r>
          </a:p>
          <a:p>
            <a:pPr marL="0" indent="0">
              <a:buNone/>
            </a:pPr>
            <a:r>
              <a:rPr lang="en-US" sz="11200" dirty="0"/>
              <a:t>2-hours ahead</a:t>
            </a:r>
          </a:p>
          <a:p>
            <a:pPr marL="0" indent="0">
              <a:buNone/>
            </a:pPr>
            <a:r>
              <a:rPr lang="en-US" sz="11200" dirty="0"/>
              <a:t>3-hours ahead</a:t>
            </a:r>
          </a:p>
          <a:p>
            <a:pPr>
              <a:buNone/>
            </a:pPr>
            <a:r>
              <a:rPr lang="en-US" sz="11200" dirty="0"/>
              <a:t>Observation:</a:t>
            </a:r>
          </a:p>
          <a:p>
            <a:pPr marL="0" indent="0">
              <a:buNone/>
            </a:pPr>
            <a:r>
              <a:rPr lang="en-US" sz="11200" dirty="0"/>
              <a:t>Forecast accuracy decreases as</a:t>
            </a:r>
          </a:p>
          <a:p>
            <a:pPr marL="0" indent="0">
              <a:buNone/>
            </a:pPr>
            <a:r>
              <a:rPr lang="en-US" sz="11200" dirty="0"/>
              <a:t> prediction horizon increases.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AA2AE-1E13-6232-7FB9-236674890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5330" y="4311926"/>
            <a:ext cx="4996670" cy="2546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2030AA-CD85-D3BF-C550-08F966456C19}"/>
              </a:ext>
            </a:extLst>
          </p:cNvPr>
          <p:cNvSpPr txBox="1"/>
          <p:nvPr/>
        </p:nvSpPr>
        <p:spPr>
          <a:xfrm>
            <a:off x="6831106" y="2557600"/>
            <a:ext cx="48125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OUR TARGETS!!</a:t>
            </a:r>
          </a:p>
          <a:p>
            <a:r>
              <a:rPr lang="en-US" sz="3200" dirty="0"/>
              <a:t>Temperature &amp; Humidity</a:t>
            </a:r>
          </a:p>
        </p:txBody>
      </p:sp>
    </p:spTree>
    <p:extLst>
      <p:ext uri="{BB962C8B-B14F-4D97-AF65-F5344CB8AC3E}">
        <p14:creationId xmlns:p14="http://schemas.microsoft.com/office/powerpoint/2010/main" val="329978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A0B6D-F7B8-5378-FD7D-6E03ACA0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Splitting, Training, and testing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7EB3B7-F944-6B9D-FF8F-639AB857B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4135"/>
            <a:ext cx="4513783" cy="29469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EF328A-F360-031B-D848-E6D5DE4E2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783" y="1774135"/>
            <a:ext cx="3870129" cy="29436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A026B1-5884-0E77-E04D-6EC6D2F03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912" y="1774135"/>
            <a:ext cx="3804912" cy="294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5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1970-5645-52F2-1992-AF50E7647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6237" y="0"/>
            <a:ext cx="9905998" cy="50202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XGBoost</a:t>
            </a:r>
            <a:r>
              <a:rPr lang="en-US" dirty="0"/>
              <a:t>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F8F49-866B-ED10-D2D4-2E61CB0B8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52" y="425824"/>
            <a:ext cx="6591232" cy="554262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Our predicted temperature curve: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EC2273E-0ACE-A76E-DE42-8AE41826A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89552"/>
            <a:ext cx="6241774" cy="596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2CF43B-0ECB-5522-8EE9-AB12164A4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775" y="889552"/>
            <a:ext cx="5950225" cy="59684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071FD-39F5-4FE2-0395-7199E43734EA}"/>
              </a:ext>
            </a:extLst>
          </p:cNvPr>
          <p:cNvSpPr txBox="1"/>
          <p:nvPr/>
        </p:nvSpPr>
        <p:spPr>
          <a:xfrm>
            <a:off x="6430190" y="427985"/>
            <a:ext cx="588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Paper’s prediction temperature curve:</a:t>
            </a:r>
          </a:p>
        </p:txBody>
      </p:sp>
    </p:spTree>
    <p:extLst>
      <p:ext uri="{BB962C8B-B14F-4D97-AF65-F5344CB8AC3E}">
        <p14:creationId xmlns:p14="http://schemas.microsoft.com/office/powerpoint/2010/main" val="286053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24B4D39D-771B-0466-75D1-6217438FE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236"/>
            <a:ext cx="6096000" cy="534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E01F30-A95F-1A87-2218-A6D00C2D4079}"/>
              </a:ext>
            </a:extLst>
          </p:cNvPr>
          <p:cNvSpPr txBox="1"/>
          <p:nvPr/>
        </p:nvSpPr>
        <p:spPr>
          <a:xfrm flipH="1">
            <a:off x="288235" y="263010"/>
            <a:ext cx="5283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Our 3 hours horizon temperature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73A88-F906-E6AB-916C-F8B50D594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57237"/>
            <a:ext cx="5963167" cy="5343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796DA1-FFE6-FF2D-FB34-CF790C73E599}"/>
              </a:ext>
            </a:extLst>
          </p:cNvPr>
          <p:cNvSpPr txBox="1"/>
          <p:nvPr/>
        </p:nvSpPr>
        <p:spPr>
          <a:xfrm>
            <a:off x="6525038" y="339954"/>
            <a:ext cx="5534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paper 3 hours horizon temperature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C09A8-4328-D087-0A04-3CCABC143A14}"/>
              </a:ext>
            </a:extLst>
          </p:cNvPr>
          <p:cNvSpPr txBox="1"/>
          <p:nvPr/>
        </p:nvSpPr>
        <p:spPr>
          <a:xfrm>
            <a:off x="3287051" y="4423533"/>
            <a:ext cx="2589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Actual temperature  =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          Predicted =  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604021E-1927-87FF-1AF1-CAD935B8F1BF}"/>
              </a:ext>
            </a:extLst>
          </p:cNvPr>
          <p:cNvSpPr/>
          <p:nvPr/>
        </p:nvSpPr>
        <p:spPr>
          <a:xfrm>
            <a:off x="5486741" y="4523717"/>
            <a:ext cx="169648" cy="168965"/>
          </a:xfrm>
          <a:prstGeom prst="flowChartConnecto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882C3793-DD3C-2EC3-0E1A-0B4239C9CA2C}"/>
              </a:ext>
            </a:extLst>
          </p:cNvPr>
          <p:cNvSpPr/>
          <p:nvPr/>
        </p:nvSpPr>
        <p:spPr>
          <a:xfrm>
            <a:off x="5486741" y="4792866"/>
            <a:ext cx="178905" cy="163995"/>
          </a:xfrm>
          <a:prstGeom prst="flowChartConnector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319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C788B-69CF-1C7F-2C27-48F023F9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79" y="1901616"/>
            <a:ext cx="9905998" cy="376518"/>
          </a:xfrm>
        </p:spPr>
        <p:txBody>
          <a:bodyPr>
            <a:normAutofit fontScale="90000"/>
          </a:bodyPr>
          <a:lstStyle/>
          <a:p>
            <a:r>
              <a:rPr lang="en-US" dirty="0"/>
              <a:t>Our performance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E919B43-1182-CA68-62FB-0B00C74B5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278134"/>
            <a:ext cx="6266622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3452A5-D47B-081B-9160-1EAA3D5AA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624" y="2278134"/>
            <a:ext cx="5925376" cy="1876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C61CEE-A9BC-7802-D55D-874B47C1BB03}"/>
              </a:ext>
            </a:extLst>
          </p:cNvPr>
          <p:cNvSpPr txBox="1"/>
          <p:nvPr/>
        </p:nvSpPr>
        <p:spPr>
          <a:xfrm>
            <a:off x="7931426" y="1816469"/>
            <a:ext cx="3260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paper Performance </a:t>
            </a:r>
          </a:p>
        </p:txBody>
      </p:sp>
    </p:spTree>
    <p:extLst>
      <p:ext uri="{BB962C8B-B14F-4D97-AF65-F5344CB8AC3E}">
        <p14:creationId xmlns:p14="http://schemas.microsoft.com/office/powerpoint/2010/main" val="249567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78965C-D534-74A4-E8E4-8BA90AD2A6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800443"/>
              </p:ext>
            </p:extLst>
          </p:nvPr>
        </p:nvGraphicFramePr>
        <p:xfrm>
          <a:off x="1143000" y="600635"/>
          <a:ext cx="9906001" cy="2940424"/>
        </p:xfrm>
        <a:graphic>
          <a:graphicData uri="http://schemas.openxmlformats.org/drawingml/2006/table">
            <a:tbl>
              <a:tblPr/>
              <a:tblGrid>
                <a:gridCol w="1415143">
                  <a:extLst>
                    <a:ext uri="{9D8B030D-6E8A-4147-A177-3AD203B41FA5}">
                      <a16:colId xmlns:a16="http://schemas.microsoft.com/office/drawing/2014/main" val="813379899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4250985009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545537322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3513733493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3342719709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684126776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447960900"/>
                    </a:ext>
                  </a:extLst>
                </a:gridCol>
              </a:tblGrid>
              <a:tr h="73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Predictive Horizon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Paper XGBoost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Our XGBoost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Paper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Our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226861"/>
                  </a:ext>
                </a:extLst>
              </a:tr>
              <a:tr h="73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0.9757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+10.9%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1.18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0.8793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Better by 25.5%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236040"/>
                  </a:ext>
                </a:extLst>
              </a:tr>
              <a:tr h="73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+28.0%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1.1291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Better by 33.6%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11782"/>
                  </a:ext>
                </a:extLst>
              </a:tr>
              <a:tr h="735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0.73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0.9351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+28.1%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1.4381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Better by 18.8%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86508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6A9535-2B3F-4391-68AD-F38690F7D2CA}"/>
              </a:ext>
            </a:extLst>
          </p:cNvPr>
          <p:cNvSpPr txBox="1"/>
          <p:nvPr/>
        </p:nvSpPr>
        <p:spPr>
          <a:xfrm>
            <a:off x="1658470" y="179294"/>
            <a:ext cx="8556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Temperature prediction results comparison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B264A5-45E1-BA23-9050-CCBAE5F829C7}"/>
              </a:ext>
            </a:extLst>
          </p:cNvPr>
          <p:cNvSpPr txBox="1"/>
          <p:nvPr/>
        </p:nvSpPr>
        <p:spPr>
          <a:xfrm>
            <a:off x="286870" y="3617259"/>
            <a:ext cx="117527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Our replicated </a:t>
            </a:r>
            <a:r>
              <a:rPr lang="en-US" sz="2000" dirty="0" err="1"/>
              <a:t>XGBoost</a:t>
            </a:r>
            <a:r>
              <a:rPr lang="en-US" sz="2000" dirty="0"/>
              <a:t> model significantly outperformed the original paper across all predictive horizons. </a:t>
            </a:r>
          </a:p>
          <a:p>
            <a:r>
              <a:rPr lang="en-US" sz="2000" dirty="0"/>
              <a:t>The largest improvement appeared in long-term forecasting (2-hour and 3-hour horizons). </a:t>
            </a:r>
          </a:p>
          <a:p>
            <a:r>
              <a:rPr lang="en-US" sz="2000" dirty="0"/>
              <a:t>Our model achieved: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higher R² scores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lower RMSE values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smoother prediction curves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better regression fitting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39AAF-19CF-0526-F8B5-118EDF16C69F}"/>
              </a:ext>
            </a:extLst>
          </p:cNvPr>
          <p:cNvSpPr txBox="1"/>
          <p:nvPr/>
        </p:nvSpPr>
        <p:spPr>
          <a:xfrm>
            <a:off x="6858927" y="4180344"/>
            <a:ext cx="533307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Main Reasons for Better Performance</a:t>
            </a:r>
          </a:p>
          <a:p>
            <a:pPr>
              <a:buNone/>
            </a:pPr>
            <a:r>
              <a:rPr lang="en-US" sz="2400" dirty="0"/>
              <a:t>Larger Dataset</a:t>
            </a:r>
          </a:p>
          <a:p>
            <a:pPr>
              <a:buNone/>
            </a:pPr>
            <a:r>
              <a:rPr lang="en-US" sz="2400" dirty="0"/>
              <a:t>We used:</a:t>
            </a:r>
          </a:p>
          <a:p>
            <a:r>
              <a:rPr lang="en-US" sz="2400" dirty="0"/>
              <a:t>continuous hourly weather data </a:t>
            </a:r>
          </a:p>
          <a:p>
            <a:r>
              <a:rPr lang="en-US" sz="2400" dirty="0"/>
              <a:t>4344+ samples </a:t>
            </a:r>
          </a:p>
          <a:p>
            <a:r>
              <a:rPr lang="en-US" sz="2400" dirty="0"/>
              <a:t>multiple consistent environmental features </a:t>
            </a:r>
          </a:p>
          <a:p>
            <a:pPr>
              <a:buNone/>
            </a:pPr>
            <a:r>
              <a:rPr lang="en-US" sz="2400" dirty="0"/>
              <a:t>which improved model learning.</a:t>
            </a:r>
          </a:p>
        </p:txBody>
      </p:sp>
    </p:spTree>
    <p:extLst>
      <p:ext uri="{BB962C8B-B14F-4D97-AF65-F5344CB8AC3E}">
        <p14:creationId xmlns:p14="http://schemas.microsoft.com/office/powerpoint/2010/main" val="4276253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04A5-FF9B-ABD5-A4BA-019B05095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507" y="0"/>
            <a:ext cx="9905998" cy="815788"/>
          </a:xfrm>
        </p:spPr>
        <p:txBody>
          <a:bodyPr/>
          <a:lstStyle/>
          <a:p>
            <a:pPr algn="ctr"/>
            <a:r>
              <a:rPr lang="en-US" dirty="0"/>
              <a:t>Bonus Part from 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28866-412B-4C4B-BF07-AA308B55B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600634"/>
            <a:ext cx="9905999" cy="6257365"/>
          </a:xfrm>
        </p:spPr>
        <p:txBody>
          <a:bodyPr/>
          <a:lstStyle/>
          <a:p>
            <a:r>
              <a:rPr lang="en-US" dirty="0"/>
              <a:t>In temperature prediction we added explainable AI for better understanding</a:t>
            </a:r>
          </a:p>
          <a:p>
            <a:pPr marL="0" indent="0">
              <a:buNone/>
            </a:pPr>
            <a:r>
              <a:rPr lang="en-US" dirty="0"/>
              <a:t>Which feature had the most impact on our prediction: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3DA8E53-E0EC-8FA1-C4AF-0FE156D05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4939"/>
            <a:ext cx="6180884" cy="522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62A70F2F-5E38-9636-0810-9BBBF9076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883" y="1634938"/>
            <a:ext cx="6007939" cy="522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1333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D525-DAD8-795D-CEA2-04EE588A9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21" y="0"/>
            <a:ext cx="6143872" cy="467139"/>
          </a:xfrm>
        </p:spPr>
        <p:txBody>
          <a:bodyPr>
            <a:normAutofit/>
          </a:bodyPr>
          <a:lstStyle/>
          <a:p>
            <a:r>
              <a:rPr lang="en-US" sz="2000" b="1" dirty="0"/>
              <a:t>Now for results in humidity prediction (ours)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E18889A2-D274-C777-1D71-2D4DF2AD77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67139"/>
            <a:ext cx="5958509" cy="3384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64DEFC-BCC5-3EEB-D2F5-030EE0A87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509" y="467139"/>
            <a:ext cx="6233491" cy="33849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5BD269-57EA-6EE0-934A-3C89CB95EF92}"/>
              </a:ext>
            </a:extLst>
          </p:cNvPr>
          <p:cNvSpPr txBox="1"/>
          <p:nvPr/>
        </p:nvSpPr>
        <p:spPr>
          <a:xfrm>
            <a:off x="6158950" y="-56081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Paper results :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B866A3C-6E1D-C254-8DBA-6A1423BC1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52094"/>
            <a:ext cx="5958509" cy="300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B6F5E3-7804-84A3-6BD4-4A6FC384CD33}"/>
              </a:ext>
            </a:extLst>
          </p:cNvPr>
          <p:cNvSpPr txBox="1"/>
          <p:nvPr/>
        </p:nvSpPr>
        <p:spPr>
          <a:xfrm>
            <a:off x="3369366" y="5909433"/>
            <a:ext cx="2589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Actual temperature  =</a:t>
            </a:r>
          </a:p>
          <a:p>
            <a:r>
              <a:rPr lang="en-US" b="1" dirty="0">
                <a:solidFill>
                  <a:schemeClr val="bg1"/>
                </a:solidFill>
              </a:rPr>
              <a:t>                 Predicted =  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41E62E53-A160-A215-75D0-1A107A9FA7CF}"/>
              </a:ext>
            </a:extLst>
          </p:cNvPr>
          <p:cNvSpPr/>
          <p:nvPr/>
        </p:nvSpPr>
        <p:spPr>
          <a:xfrm>
            <a:off x="5615950" y="5990393"/>
            <a:ext cx="169648" cy="168965"/>
          </a:xfrm>
          <a:prstGeom prst="flowChartConnecto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468676AA-45F3-EDD4-FE5A-4A7E0A7522C5}"/>
              </a:ext>
            </a:extLst>
          </p:cNvPr>
          <p:cNvSpPr/>
          <p:nvPr/>
        </p:nvSpPr>
        <p:spPr>
          <a:xfrm>
            <a:off x="5606693" y="6260654"/>
            <a:ext cx="178905" cy="163995"/>
          </a:xfrm>
          <a:prstGeom prst="flowChartConnector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1CA3F8-4E41-ECCD-0C6D-5CBD274D3C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8508" y="3852095"/>
            <a:ext cx="6233491" cy="299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81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8AA0-6FFD-CB0D-1BEA-9DB9FE1F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693" y="1727861"/>
            <a:ext cx="9905998" cy="685846"/>
          </a:xfrm>
        </p:spPr>
        <p:txBody>
          <a:bodyPr/>
          <a:lstStyle/>
          <a:p>
            <a:r>
              <a:rPr lang="en-US" b="1" dirty="0"/>
              <a:t>Our results:  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CC3D1BE-F7B5-6490-DE3F-1203B7D57C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960" y="-1"/>
            <a:ext cx="7632040" cy="3553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EC3B24-EB6F-B200-74EE-BAB8EA4F2159}"/>
              </a:ext>
            </a:extLst>
          </p:cNvPr>
          <p:cNvSpPr txBox="1"/>
          <p:nvPr/>
        </p:nvSpPr>
        <p:spPr>
          <a:xfrm>
            <a:off x="675254" y="3880547"/>
            <a:ext cx="398032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Paper results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BA8EFC-749B-7575-919F-8FE0F558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960" y="3553240"/>
            <a:ext cx="7632040" cy="3304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33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DAFC-7B09-FDBA-1599-C4B6C9E6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107" y="40341"/>
            <a:ext cx="9905998" cy="900953"/>
          </a:xfrm>
        </p:spPr>
        <p:txBody>
          <a:bodyPr/>
          <a:lstStyle/>
          <a:p>
            <a:r>
              <a:rPr lang="en-US" dirty="0"/>
              <a:t>Results of humidity prediction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6CB242-EEDF-0A42-566E-4BB305ABE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016767"/>
              </p:ext>
            </p:extLst>
          </p:nvPr>
        </p:nvGraphicFramePr>
        <p:xfrm>
          <a:off x="1347601" y="868680"/>
          <a:ext cx="9906001" cy="2560320"/>
        </p:xfrm>
        <a:graphic>
          <a:graphicData uri="http://schemas.openxmlformats.org/drawingml/2006/table">
            <a:tbl>
              <a:tblPr/>
              <a:tblGrid>
                <a:gridCol w="1415143">
                  <a:extLst>
                    <a:ext uri="{9D8B030D-6E8A-4147-A177-3AD203B41FA5}">
                      <a16:colId xmlns:a16="http://schemas.microsoft.com/office/drawing/2014/main" val="3920250104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968724623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112963672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1897138216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949419053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2212755518"/>
                    </a:ext>
                  </a:extLst>
                </a:gridCol>
                <a:gridCol w="1415143">
                  <a:extLst>
                    <a:ext uri="{9D8B030D-6E8A-4147-A177-3AD203B41FA5}">
                      <a16:colId xmlns:a16="http://schemas.microsoft.com/office/drawing/2014/main" val="401999895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Predictive Horizon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Paper </a:t>
                      </a:r>
                      <a:r>
                        <a:rPr lang="en-US" sz="1800" dirty="0" err="1"/>
                        <a:t>XGBoost</a:t>
                      </a:r>
                      <a:r>
                        <a:rPr lang="en-US" sz="1800" dirty="0"/>
                        <a:t>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Our XGBoost R²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Paper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Our RMSE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90145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0.9867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+7.25%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3.89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2.5459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Better by 34.6%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44653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0.9585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+11.45%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5.26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4.4930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Better by 14.6%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02613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0.9168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+13.19%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6.33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6.3639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Nearly identical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590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DB8661-D5FE-D5C3-1CEB-38EDD8579118}"/>
              </a:ext>
            </a:extLst>
          </p:cNvPr>
          <p:cNvSpPr txBox="1"/>
          <p:nvPr/>
        </p:nvSpPr>
        <p:spPr>
          <a:xfrm>
            <a:off x="1648384" y="3558605"/>
            <a:ext cx="1010434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Final Conclusion</a:t>
            </a:r>
          </a:p>
          <a:p>
            <a:pPr>
              <a:buNone/>
            </a:pPr>
            <a:r>
              <a:rPr lang="en-US" sz="2000" dirty="0"/>
              <a:t>The replicated and enhanced </a:t>
            </a:r>
            <a:r>
              <a:rPr lang="en-US" sz="2000" dirty="0" err="1"/>
              <a:t>XGBoost</a:t>
            </a:r>
            <a:r>
              <a:rPr lang="en-US" sz="2000" dirty="0"/>
              <a:t> model outperformed the original paper in humidity prediction across almost all forecasting horizons.</a:t>
            </a:r>
          </a:p>
          <a:p>
            <a:pPr>
              <a:buNone/>
            </a:pPr>
            <a:r>
              <a:rPr lang="en-US" sz="2000" dirty="0"/>
              <a:t>Key achievements:</a:t>
            </a:r>
          </a:p>
          <a:p>
            <a:r>
              <a:rPr lang="en-US" sz="2000" dirty="0"/>
              <a:t>higher R² values </a:t>
            </a:r>
          </a:p>
          <a:p>
            <a:r>
              <a:rPr lang="en-US" sz="2000" dirty="0"/>
              <a:t>lower RMSE </a:t>
            </a:r>
          </a:p>
          <a:p>
            <a:r>
              <a:rPr lang="en-US" sz="2000" dirty="0"/>
              <a:t>improved stability </a:t>
            </a:r>
          </a:p>
          <a:p>
            <a:r>
              <a:rPr lang="en-US" sz="2000" dirty="0"/>
              <a:t>better long-term prediction robustness </a:t>
            </a:r>
          </a:p>
          <a:p>
            <a:pPr>
              <a:buNone/>
            </a:pPr>
            <a:r>
              <a:rPr lang="en-US" sz="2000" dirty="0"/>
              <a:t>The study confirms that </a:t>
            </a:r>
            <a:r>
              <a:rPr lang="en-US" sz="2000" dirty="0" err="1"/>
              <a:t>XGBoost</a:t>
            </a:r>
            <a:r>
              <a:rPr lang="en-US" sz="2000" dirty="0"/>
              <a:t> is highly effective for short-term outdoor humidity forecasting when combined with proper feature engineering and temporal lag analysis.</a:t>
            </a:r>
          </a:p>
        </p:txBody>
      </p:sp>
    </p:spTree>
    <p:extLst>
      <p:ext uri="{BB962C8B-B14F-4D97-AF65-F5344CB8AC3E}">
        <p14:creationId xmlns:p14="http://schemas.microsoft.com/office/powerpoint/2010/main" val="828910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C5ED-85FC-3A10-17E7-85B874BA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096" y="0"/>
            <a:ext cx="9905998" cy="1478570"/>
          </a:xfrm>
        </p:spPr>
        <p:txBody>
          <a:bodyPr/>
          <a:lstStyle/>
          <a:p>
            <a:r>
              <a:rPr lang="en-US" dirty="0"/>
              <a:t>We did something more as a bonus!!!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33B1C-72A4-A063-4733-FD4460ADC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824" y="1003393"/>
            <a:ext cx="9905999" cy="561256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compared between LSTM &amp; XBOOST in temperature prediction 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97708ABD-E337-8F31-4C98-F68F29933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424548"/>
            <a:ext cx="6010273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>
            <a:extLst>
              <a:ext uri="{FF2B5EF4-FFF2-40B4-BE49-F238E27FC236}">
                <a16:creationId xmlns:a16="http://schemas.microsoft.com/office/drawing/2014/main" id="{510BD966-097F-D381-2ED7-F9678EA7D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273" y="1424548"/>
            <a:ext cx="6181727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5750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7E81E-002D-21F6-7896-EBCBDFF5C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LSTM Training &amp;code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33928-685F-6534-0BA3-98799E0D0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2879"/>
            <a:ext cx="3498574" cy="3290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364D7A-3779-BF68-3CF1-5C0428C29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878" y="1162880"/>
            <a:ext cx="3785281" cy="3290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4A047-B91F-121A-9760-42522196D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890" y="1162879"/>
            <a:ext cx="3172110" cy="3290271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56A8E884-FE9A-CCF1-D020-64A43C562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44" y="4852354"/>
            <a:ext cx="2922104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Idea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previous 24 hours of temperature, humidity, solar radiation, pressure, and wind speed to predict future temperature.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9762183-CAA0-5624-F267-16AFFA2ED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0014" y="4652299"/>
            <a:ext cx="409014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 improves: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stability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convergence speed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Necessary for LSTM because neural networks are sensitive to feature magnitudes.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D2DCD7-BA77-4413-5D0E-35AF9BAED08C}"/>
              </a:ext>
            </a:extLst>
          </p:cNvPr>
          <p:cNvSpPr txBox="1"/>
          <p:nvPr/>
        </p:nvSpPr>
        <p:spPr>
          <a:xfrm>
            <a:off x="8774026" y="4529542"/>
            <a:ext cx="35333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LSTM uses these time-series sequences to learn temporal weather patterns.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enables the model to predict future temperature based on historical behavior. </a:t>
            </a:r>
          </a:p>
        </p:txBody>
      </p:sp>
    </p:spTree>
    <p:extLst>
      <p:ext uri="{BB962C8B-B14F-4D97-AF65-F5344CB8AC3E}">
        <p14:creationId xmlns:p14="http://schemas.microsoft.com/office/powerpoint/2010/main" val="37672299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C3D40-3F52-48D3-F1FE-E4C3C3AC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7B647-2D63-A73E-7761-606BEC2D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LSTM Training &amp;code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EA2F1F-776D-D709-EFA4-2C13C88B3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940"/>
            <a:ext cx="4084983" cy="28043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C6CF9F-4FE2-3ACF-BAD5-BDF7CB5ED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984" y="1025940"/>
            <a:ext cx="4022036" cy="2804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028145-2331-CE9C-F981-B6C8EDE08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019" y="1025940"/>
            <a:ext cx="4084982" cy="28043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E8FAC5-D011-9932-B03C-8D1A4D220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3" y="3830301"/>
            <a:ext cx="5849154" cy="30276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C0DDA23-6350-8AB7-ED28-8E4667548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9117" y="3830301"/>
            <a:ext cx="6332883" cy="302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091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89CB-C747-546A-882D-77D720B2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542" y="0"/>
            <a:ext cx="9905998" cy="735106"/>
          </a:xfrm>
        </p:spPr>
        <p:txBody>
          <a:bodyPr/>
          <a:lstStyle/>
          <a:p>
            <a:r>
              <a:rPr lang="en-US" dirty="0"/>
              <a:t>LSTM prediction and training curve  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FC41B4FB-5C5B-404C-C282-414DA08F67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5812"/>
            <a:ext cx="12191999" cy="2958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C146F760-91B6-84A0-1DD4-EAFE3EBF5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14165"/>
            <a:ext cx="12191999" cy="334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6482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9EABE-C7EE-962E-D5A2-BEED177C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627" y="0"/>
            <a:ext cx="9905998" cy="53792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comparison between XBOOST &amp; LSTM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EC1C34-64D1-9B8D-5200-2C763885A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83" y="956357"/>
            <a:ext cx="9819033" cy="55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972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E874E-F4A0-25AB-B3E3-20C357C2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39EFF-7F9D-EFC9-DF81-90628C6A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627" y="0"/>
            <a:ext cx="9905998" cy="53792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comparison between XBOOST &amp; LSTM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707DEF-A7AE-32BB-710F-342241C184D0}"/>
              </a:ext>
            </a:extLst>
          </p:cNvPr>
          <p:cNvSpPr txBox="1"/>
          <p:nvPr/>
        </p:nvSpPr>
        <p:spPr>
          <a:xfrm>
            <a:off x="1019265" y="865334"/>
            <a:ext cx="1153104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 err="1"/>
              <a:t>XGBoost</a:t>
            </a:r>
            <a:r>
              <a:rPr lang="en-US" sz="4000" b="1" dirty="0"/>
              <a:t> Still Performed Exceptionally Well</a:t>
            </a:r>
          </a:p>
          <a:p>
            <a:pPr>
              <a:buNone/>
            </a:pPr>
            <a:r>
              <a:rPr lang="en-US" sz="4000" dirty="0"/>
              <a:t>Despite being simpler:</a:t>
            </a:r>
          </a:p>
          <a:p>
            <a:r>
              <a:rPr lang="en-US" sz="4000" dirty="0" err="1"/>
              <a:t>XGBoost</a:t>
            </a:r>
            <a:r>
              <a:rPr lang="en-US" sz="4000" dirty="0"/>
              <a:t> achieved very high accuracy </a:t>
            </a:r>
          </a:p>
          <a:p>
            <a:r>
              <a:rPr lang="en-US" sz="4000" dirty="0"/>
              <a:t>R² &gt; 0.97 </a:t>
            </a:r>
          </a:p>
          <a:p>
            <a:r>
              <a:rPr lang="en-US" sz="4000" dirty="0"/>
              <a:t>excellent multi-horizon prediction </a:t>
            </a:r>
          </a:p>
          <a:p>
            <a:pPr>
              <a:buNone/>
            </a:pPr>
            <a:r>
              <a:rPr lang="en-US" sz="4000" dirty="0"/>
              <a:t>showing that gradient boosting remains highly competitive for environmental forecasting.</a:t>
            </a:r>
          </a:p>
          <a:p>
            <a:pPr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8704149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83AB-DAC8-D677-0216-5C777310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3D9F-BD16-5534-52A1-A0403C399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627" y="0"/>
            <a:ext cx="9905998" cy="53792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Final comparison between XBOOST &amp; LSTM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832EC-E85C-60A8-F5EF-4221CC3AD51B}"/>
              </a:ext>
            </a:extLst>
          </p:cNvPr>
          <p:cNvSpPr txBox="1"/>
          <p:nvPr/>
        </p:nvSpPr>
        <p:spPr>
          <a:xfrm>
            <a:off x="780727" y="582068"/>
            <a:ext cx="1153104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Scientific Conclusion</a:t>
            </a:r>
          </a:p>
          <a:p>
            <a:pPr>
              <a:buNone/>
            </a:pPr>
            <a:r>
              <a:rPr lang="en-US" sz="4000" dirty="0"/>
              <a:t>The comparative study demonstrated that:</a:t>
            </a:r>
          </a:p>
          <a:p>
            <a:r>
              <a:rPr lang="en-US" sz="4000" dirty="0"/>
              <a:t>LSTM provides the best predictive accuracy for time-series weather forecasting. </a:t>
            </a:r>
          </a:p>
          <a:p>
            <a:r>
              <a:rPr lang="en-US" sz="4000" dirty="0" err="1"/>
              <a:t>XGBoost</a:t>
            </a:r>
            <a:r>
              <a:rPr lang="en-US" sz="4000" dirty="0"/>
              <a:t> provides the best explainability, simplicity, and computational efficiency. </a:t>
            </a:r>
          </a:p>
          <a:p>
            <a:r>
              <a:rPr lang="en-US" sz="4000" dirty="0"/>
              <a:t>Combining both approaches creates a strong balance between: performance ,interpretability ,deployment practicality.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82544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978A-F889-2D93-FD10-F2008CD1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Research Contribution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F72E8-30A5-F0A5-F530-AE651CD3AAA1}"/>
              </a:ext>
            </a:extLst>
          </p:cNvPr>
          <p:cNvSpPr txBox="1"/>
          <p:nvPr/>
        </p:nvSpPr>
        <p:spPr>
          <a:xfrm>
            <a:off x="968481" y="1405520"/>
            <a:ext cx="1073187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dirty="0"/>
              <a:t>Our work extended the original paper by: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replicating </a:t>
            </a:r>
            <a:r>
              <a:rPr lang="en-US" sz="3600" dirty="0" err="1"/>
              <a:t>XGBoost</a:t>
            </a:r>
            <a:r>
              <a:rPr lang="en-US" sz="3600" dirty="0"/>
              <a:t> forecasting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improving prediction performance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integrating SHAP Explainable AI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introducing LSTM comparison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600" dirty="0"/>
              <a:t>performing multi-horizon forecasting for both temperature and humidity</a:t>
            </a:r>
          </a:p>
          <a:p>
            <a:pPr>
              <a:buNone/>
            </a:pPr>
            <a:r>
              <a:rPr lang="en-US" sz="3600" dirty="0"/>
              <a:t>This transformed the original replication into a full comparative and explainable AI forecasting framework</a:t>
            </a:r>
          </a:p>
        </p:txBody>
      </p:sp>
    </p:spTree>
    <p:extLst>
      <p:ext uri="{BB962C8B-B14F-4D97-AF65-F5344CB8AC3E}">
        <p14:creationId xmlns:p14="http://schemas.microsoft.com/office/powerpoint/2010/main" val="2818607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BC69-3CDF-7FA5-AA74-D379B4C80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8906"/>
            <a:ext cx="9905998" cy="1478570"/>
          </a:xfrm>
        </p:spPr>
        <p:txBody>
          <a:bodyPr/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475A-AFBD-B72C-7D54-86AAC3B12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7" y="1554722"/>
            <a:ext cx="10905565" cy="507019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References [1] G. Gao, J. Li, Y. Wen, “Energy-efficient thermal comfort control in smart buildings via deep reinforcement learning,” arXiv:1901.04693v1, 2019. [2] T. Wei, Y. Wang, and Q. Zhu, “Deep reinforcement learning for building HVAC control,” in Design Automation Conference (DAC), 2017 54th ACM/EDAC/IEEE. IEEE, 2017, pp. 1–6. [3] P. Fazenda and et al. Using reinforcement learning to optimize occupant comfort and energy usage in </a:t>
            </a:r>
            <a:r>
              <a:rPr lang="en-US" dirty="0" err="1"/>
              <a:t>hvac</a:t>
            </a:r>
            <a:r>
              <a:rPr lang="en-US" dirty="0"/>
              <a:t> systems. Journal of Ambient Intelligence and Smart Environments, pages 675{690, 2014. [4] D. </a:t>
            </a:r>
            <a:r>
              <a:rPr lang="en-US" dirty="0" err="1"/>
              <a:t>Kolokotsa</a:t>
            </a:r>
            <a:r>
              <a:rPr lang="en-US" dirty="0"/>
              <a:t>, D. </a:t>
            </a:r>
            <a:r>
              <a:rPr lang="en-US" dirty="0" err="1"/>
              <a:t>Rovas</a:t>
            </a:r>
            <a:r>
              <a:rPr lang="en-US" dirty="0"/>
              <a:t>, E. </a:t>
            </a:r>
            <a:r>
              <a:rPr lang="en-US" dirty="0" err="1"/>
              <a:t>Kosmatopoulos</a:t>
            </a:r>
            <a:r>
              <a:rPr lang="en-US" dirty="0"/>
              <a:t>, K. Kalaitzakis, A roadmap </a:t>
            </a:r>
            <a:r>
              <a:rPr lang="en-US" dirty="0" err="1"/>
              <a:t>towardsintelligent</a:t>
            </a:r>
            <a:r>
              <a:rPr lang="en-US" dirty="0"/>
              <a:t> net zero- and positive-energy buildings, Sol. Energy 85 (December(12)) (2011) 3067–3084. [5] D. </a:t>
            </a:r>
            <a:r>
              <a:rPr lang="en-US" dirty="0" err="1"/>
              <a:t>Kolokotsa</a:t>
            </a:r>
            <a:r>
              <a:rPr lang="en-US" dirty="0"/>
              <a:t>, A. Psomas, E. </a:t>
            </a:r>
            <a:r>
              <a:rPr lang="en-US" dirty="0" err="1"/>
              <a:t>Karapidakis</a:t>
            </a:r>
            <a:r>
              <a:rPr lang="en-US" dirty="0"/>
              <a:t>, Urban heat island in southern </a:t>
            </a:r>
            <a:r>
              <a:rPr lang="en-US" dirty="0" err="1"/>
              <a:t>Europe:the</a:t>
            </a:r>
            <a:r>
              <a:rPr lang="en-US" dirty="0"/>
              <a:t> case study of Hania, Crete, Sol. Energy 83 (October (10)) (2009)1871–1883. [6] K. </a:t>
            </a:r>
            <a:r>
              <a:rPr lang="en-US" dirty="0" err="1"/>
              <a:t>Maragkogiannis</a:t>
            </a:r>
            <a:r>
              <a:rPr lang="en-US" dirty="0"/>
              <a:t>, D. </a:t>
            </a:r>
            <a:r>
              <a:rPr lang="en-US" dirty="0" err="1"/>
              <a:t>Kolokotsa</a:t>
            </a:r>
            <a:r>
              <a:rPr lang="en-US" dirty="0"/>
              <a:t>, E. </a:t>
            </a:r>
            <a:r>
              <a:rPr lang="en-US" dirty="0" err="1"/>
              <a:t>Maravelakis</a:t>
            </a:r>
            <a:r>
              <a:rPr lang="en-US" dirty="0"/>
              <a:t>, A. </a:t>
            </a:r>
            <a:r>
              <a:rPr lang="en-US" dirty="0" err="1"/>
              <a:t>Konstantaras</a:t>
            </a:r>
            <a:r>
              <a:rPr lang="en-US" dirty="0"/>
              <a:t>, </a:t>
            </a:r>
            <a:r>
              <a:rPr lang="en-US" dirty="0" err="1"/>
              <a:t>Combiningterrestrial</a:t>
            </a:r>
            <a:r>
              <a:rPr lang="en-US" dirty="0"/>
              <a:t> laser scanning and computational fluid dynamics for the study </a:t>
            </a:r>
            <a:r>
              <a:rPr lang="en-US" dirty="0" err="1"/>
              <a:t>ofthe</a:t>
            </a:r>
            <a:r>
              <a:rPr lang="en-US" dirty="0"/>
              <a:t> urban thermal environment, Sustain. Cities Soc. 13 (2014) 207–216. [7] Nakano, A., Bueno, B., Norford, L. and Reinhart, C.F. (2015) Urban weather generator – A novel workflow for integrating urban heat island effect within urban design process. In Proceedings of 8 2019 The 2nd International Symposium on Water Pollution and Treatment IOP Conf. Series: Earth and Environmental Science 427 (2020) 012013 IOP Publishing doi:10.1088/1755-1315/427/1/012013 Building Simulation 2015, 14th Conference of International Building Performance Simulation Association Hyderabad, India, December 7-9, 2015, pp. 1901-1908. [8] A. Smargiassi, M. Fournier, C. Griot, Y. Baudouin, T. </a:t>
            </a:r>
            <a:r>
              <a:rPr lang="en-US" dirty="0" err="1"/>
              <a:t>Kosatsky</a:t>
            </a:r>
            <a:r>
              <a:rPr lang="en-US" dirty="0"/>
              <a:t>, Prediction of the indoor temperatures of an urban area with an in-time regression mapping approach, J. Expo. Sci. Environ. Epidemiol. 18 (3) (2008) 282–288. [9] K. </a:t>
            </a:r>
            <a:r>
              <a:rPr lang="en-US" dirty="0" err="1"/>
              <a:t>Gobakis</a:t>
            </a:r>
            <a:r>
              <a:rPr lang="en-US" dirty="0"/>
              <a:t>, D. </a:t>
            </a:r>
            <a:r>
              <a:rPr lang="en-US" dirty="0" err="1"/>
              <a:t>Kolokotsa</a:t>
            </a:r>
            <a:r>
              <a:rPr lang="en-US" dirty="0"/>
              <a:t>, A. </a:t>
            </a:r>
            <a:r>
              <a:rPr lang="en-US" dirty="0" err="1"/>
              <a:t>Synnefa</a:t>
            </a:r>
            <a:r>
              <a:rPr lang="en-US" dirty="0"/>
              <a:t>, M. </a:t>
            </a:r>
            <a:r>
              <a:rPr lang="en-US" dirty="0" err="1"/>
              <a:t>Saliari</a:t>
            </a:r>
            <a:r>
              <a:rPr lang="en-US" dirty="0"/>
              <a:t>, K. Giannopoulou, </a:t>
            </a:r>
            <a:r>
              <a:rPr lang="en-US" dirty="0" err="1"/>
              <a:t>M.Santamouris</a:t>
            </a:r>
            <a:r>
              <a:rPr lang="en-US" dirty="0"/>
              <a:t>, Development of a model for urban heat island prediction using neural network techniques, Sustain. Cities Soc. 1 (July (2)) (2011) 104–115. [10] S. Papantoniou, D. </a:t>
            </a:r>
            <a:r>
              <a:rPr lang="en-US" dirty="0" err="1"/>
              <a:t>Kolokotsa</a:t>
            </a:r>
            <a:r>
              <a:rPr lang="en-US" dirty="0"/>
              <a:t>, Prediction of outdoor air temperature using Neural Networks; application in 4 European cities, Third Internation Conference on Countermeasures to Urban Heat Island (2014) [11] Chen T, </a:t>
            </a:r>
            <a:r>
              <a:rPr lang="en-US" dirty="0" err="1"/>
              <a:t>Guestrin</a:t>
            </a:r>
            <a:r>
              <a:rPr lang="en-US" dirty="0"/>
              <a:t> C. </a:t>
            </a:r>
            <a:r>
              <a:rPr lang="en-US" dirty="0" err="1"/>
              <a:t>XGBoost</a:t>
            </a:r>
            <a:r>
              <a:rPr lang="en-US" dirty="0"/>
              <a:t>: a scalable tree boosting system. Proceedings of the 22nd ACM SIGKDD international conference on knowledge discovery and data mining. ACM; 2016. p. 785–94. [12] G. </a:t>
            </a:r>
            <a:r>
              <a:rPr lang="en-US" dirty="0" err="1"/>
              <a:t>Mihalakakou</a:t>
            </a:r>
            <a:r>
              <a:rPr lang="en-US" dirty="0"/>
              <a:t>, M. </a:t>
            </a:r>
            <a:r>
              <a:rPr lang="en-US" dirty="0" err="1"/>
              <a:t>Santamouris</a:t>
            </a:r>
            <a:r>
              <a:rPr lang="en-US" dirty="0"/>
              <a:t>, D.N. Asimakopoulos, The total solar radiation time series simulation in Athens, using neural networks, Theor. Appl. </a:t>
            </a:r>
            <a:r>
              <a:rPr lang="en-US" dirty="0" err="1"/>
              <a:t>Climatol</a:t>
            </a:r>
            <a:r>
              <a:rPr lang="en-US" dirty="0"/>
              <a:t>. 66 (3–4) (2000) 185–197. [13] G. </a:t>
            </a:r>
            <a:r>
              <a:rPr lang="en-US" dirty="0" err="1"/>
              <a:t>Mihalakakou</a:t>
            </a:r>
            <a:r>
              <a:rPr lang="en-US" dirty="0"/>
              <a:t>, M. </a:t>
            </a:r>
            <a:r>
              <a:rPr lang="en-US" dirty="0" err="1"/>
              <a:t>Santamouris</a:t>
            </a:r>
            <a:r>
              <a:rPr lang="en-US" dirty="0"/>
              <a:t>, D. Asimakopoulos, Modeling ambient air temperature time series using neural networks, J. </a:t>
            </a:r>
            <a:r>
              <a:rPr lang="en-US" dirty="0" err="1"/>
              <a:t>Geophys</a:t>
            </a:r>
            <a:r>
              <a:rPr lang="en-US" dirty="0"/>
              <a:t>. Res. 103 (1998)509–517. [14] M. </a:t>
            </a:r>
            <a:r>
              <a:rPr lang="en-US" dirty="0" err="1"/>
              <a:t>Kolokotroni</a:t>
            </a:r>
            <a:r>
              <a:rPr lang="en-US" dirty="0"/>
              <a:t>, M. Davies, B. Croxford, S. Bhuiyan, A. </a:t>
            </a:r>
            <a:r>
              <a:rPr lang="en-US" dirty="0" err="1"/>
              <a:t>Mavrogianni</a:t>
            </a:r>
            <a:r>
              <a:rPr lang="en-US" dirty="0"/>
              <a:t>, A validated methodology for the prediction of heating and cooling energy demand for buildings within the Urban Heat Island: case-study of London, Sol. Energy 84(12) (2010) 2246–2255. [15] Fan J., Wang X., Wu L., Zhou H., Zhang F., Yu X., Lu X., Xiang </a:t>
            </a:r>
            <a:r>
              <a:rPr lang="en-US" dirty="0" err="1"/>
              <a:t>Y.Comparison</a:t>
            </a:r>
            <a:r>
              <a:rPr lang="en-US" dirty="0"/>
              <a:t> of support vector machine and extreme gradient boosting for predicting daily global solar radiation using temperature and precipitation in humid subtropical climates: A case study in China Energy Convers. Manage., 164 (2018), pp. 102-111, 10.1016/j.enconman.2018.02.087 </a:t>
            </a:r>
          </a:p>
        </p:txBody>
      </p:sp>
    </p:spTree>
    <p:extLst>
      <p:ext uri="{BB962C8B-B14F-4D97-AF65-F5344CB8AC3E}">
        <p14:creationId xmlns:p14="http://schemas.microsoft.com/office/powerpoint/2010/main" val="3353959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C43D-66BF-CA3D-4E8B-E83D1A49D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9294"/>
            <a:ext cx="9905999" cy="561190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US" sz="6000" b="1" dirty="0"/>
          </a:p>
          <a:p>
            <a:pPr marL="0" indent="0" algn="ctr">
              <a:buNone/>
            </a:pPr>
            <a:r>
              <a:rPr lang="en-US" sz="7800" b="1" dirty="0"/>
              <a:t>Thank You!!!</a:t>
            </a:r>
          </a:p>
          <a:p>
            <a:pPr marL="0" indent="0" algn="ctr">
              <a:buNone/>
            </a:pPr>
            <a:endParaRPr lang="en-US" sz="6000" dirty="0"/>
          </a:p>
          <a:p>
            <a:pPr marL="0" indent="0" algn="ctr">
              <a:buNone/>
            </a:pP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Questions?</a:t>
            </a:r>
          </a:p>
          <a:p>
            <a:pPr marL="0" indent="0" algn="ctr">
              <a:buNone/>
            </a:pP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148146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{0AC4B7E0-A491-4CFA-B826-B3EE2A3091D1}TF6d5feb1e-e145-43f1-b745-cb4b54c5ee975d365c52-ce22229b0e48</Template>
  <TotalTime>352</TotalTime>
  <Words>1798</Words>
  <Application>Microsoft Office PowerPoint</Application>
  <PresentationFormat>Widescreen</PresentationFormat>
  <Paragraphs>275</Paragraphs>
  <Slides>31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Circuit</vt:lpstr>
      <vt:lpstr> Short-Term Weather Forecasting Using XGBoost</vt:lpstr>
      <vt:lpstr>Introduction:</vt:lpstr>
      <vt:lpstr>Project Objectives</vt:lpstr>
      <vt:lpstr>Research Paper Overview</vt:lpstr>
      <vt:lpstr>Research Paper Overview</vt:lpstr>
      <vt:lpstr>OUR replication (Overview)</vt:lpstr>
      <vt:lpstr>Data Preprocessing &amp; Forecasting Pipeline</vt:lpstr>
      <vt:lpstr>Data Preprocessing</vt:lpstr>
      <vt:lpstr>Data Preprocessing</vt:lpstr>
      <vt:lpstr>Our beloved XGBoost Model</vt:lpstr>
      <vt:lpstr>Multi-Horizon Forecasting </vt:lpstr>
      <vt:lpstr>Multi-Horizon Forecasting </vt:lpstr>
      <vt:lpstr>Splitting, Training, and testing </vt:lpstr>
      <vt:lpstr>XGBoost Results</vt:lpstr>
      <vt:lpstr>PowerPoint Presentation</vt:lpstr>
      <vt:lpstr>Our performance</vt:lpstr>
      <vt:lpstr>PowerPoint Presentation</vt:lpstr>
      <vt:lpstr>Bonus Part from us </vt:lpstr>
      <vt:lpstr>Now for results in humidity prediction (ours)</vt:lpstr>
      <vt:lpstr>Our results:  </vt:lpstr>
      <vt:lpstr>Results of humidity prediction </vt:lpstr>
      <vt:lpstr>We did something more as a bonus!!! </vt:lpstr>
      <vt:lpstr>LSTM Training &amp;code </vt:lpstr>
      <vt:lpstr>LSTM Training &amp;code </vt:lpstr>
      <vt:lpstr>LSTM prediction and training curve  </vt:lpstr>
      <vt:lpstr>Final comparison between XBOOST &amp; LSTM</vt:lpstr>
      <vt:lpstr>Final comparison between XBOOST &amp; LSTM</vt:lpstr>
      <vt:lpstr>Final comparison between XBOOST &amp; LSTM</vt:lpstr>
      <vt:lpstr>Final Research Contribution 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Tarek Hammad</dc:creator>
  <cp:lastModifiedBy>Omar Tarek Hammad</cp:lastModifiedBy>
  <cp:revision>20</cp:revision>
  <dcterms:created xsi:type="dcterms:W3CDTF">2026-05-15T15:22:18Z</dcterms:created>
  <dcterms:modified xsi:type="dcterms:W3CDTF">2026-09-09T16:21:34Z</dcterms:modified>
</cp:coreProperties>
</file>